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Zen Dots" charset="1" panose="00000000000000000000"/>
      <p:regular r:id="rId14"/>
    </p:embeddedFont>
    <p:embeddedFont>
      <p:font typeface="Times New Roman MT Bold" charset="1" panose="02030802070405020303"/>
      <p:regular r:id="rId15"/>
    </p:embeddedFont>
    <p:embeddedFont>
      <p:font typeface="Times New Roman MT" charset="1" panose="02030502070405020303"/>
      <p:regular r:id="rId16"/>
    </p:embeddedFont>
    <p:embeddedFont>
      <p:font typeface="Arial Bold" charset="1" panose="020B0704020202020204"/>
      <p:regular r:id="rId17"/>
    </p:embeddedFont>
    <p:embeddedFont>
      <p:font typeface="Arial" charset="1" panose="020B06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10.png" Type="http://schemas.openxmlformats.org/officeDocument/2006/relationships/image"/><Relationship Id="rId15" Target="../media/image30.png" Type="http://schemas.openxmlformats.org/officeDocument/2006/relationships/image"/><Relationship Id="rId16" Target="../media/image31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10.png" Type="http://schemas.openxmlformats.org/officeDocument/2006/relationships/image"/><Relationship Id="rId15" Target="../media/image30.png" Type="http://schemas.openxmlformats.org/officeDocument/2006/relationships/image"/><Relationship Id="rId16" Target="../media/image31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9.pn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28.png" Type="http://schemas.openxmlformats.org/officeDocument/2006/relationships/image"/><Relationship Id="rId15" Target="../media/image29.svg" Type="http://schemas.openxmlformats.org/officeDocument/2006/relationships/image"/><Relationship Id="rId16" Target="../media/image10.png" Type="http://schemas.openxmlformats.org/officeDocument/2006/relationships/image"/><Relationship Id="rId17" Target="../media/image30.png" Type="http://schemas.openxmlformats.org/officeDocument/2006/relationships/image"/><Relationship Id="rId18" Target="../media/image31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36.png" Type="http://schemas.openxmlformats.org/officeDocument/2006/relationships/image"/><Relationship Id="rId8" Target="../media/image37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10.png" Type="http://schemas.openxmlformats.org/officeDocument/2006/relationships/image"/><Relationship Id="rId15" Target="../media/image30.png" Type="http://schemas.openxmlformats.org/officeDocument/2006/relationships/image"/><Relationship Id="rId16" Target="../media/image31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10.png" Type="http://schemas.openxmlformats.org/officeDocument/2006/relationships/image"/><Relationship Id="rId15" Target="../media/image30.png" Type="http://schemas.openxmlformats.org/officeDocument/2006/relationships/image"/><Relationship Id="rId16" Target="../media/image31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28.png" Type="http://schemas.openxmlformats.org/officeDocument/2006/relationships/image"/><Relationship Id="rId15" Target="../media/image29.svg" Type="http://schemas.openxmlformats.org/officeDocument/2006/relationships/image"/><Relationship Id="rId16" Target="../media/image10.png" Type="http://schemas.openxmlformats.org/officeDocument/2006/relationships/image"/><Relationship Id="rId17" Target="../media/image30.png" Type="http://schemas.openxmlformats.org/officeDocument/2006/relationships/image"/><Relationship Id="rId18" Target="../media/image31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10.png" Type="http://schemas.openxmlformats.org/officeDocument/2006/relationships/image"/><Relationship Id="rId15" Target="../media/image30.png" Type="http://schemas.openxmlformats.org/officeDocument/2006/relationships/image"/><Relationship Id="rId16" Target="../media/image31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9879378"/>
            <a:ext cx="18414997" cy="471126"/>
          </a:xfrm>
          <a:custGeom>
            <a:avLst/>
            <a:gdLst/>
            <a:ahLst/>
            <a:cxnLst/>
            <a:rect r="r" b="b" t="t" l="l"/>
            <a:pathLst>
              <a:path h="471126" w="18414997">
                <a:moveTo>
                  <a:pt x="0" y="0"/>
                </a:moveTo>
                <a:lnTo>
                  <a:pt x="18414997" y="0"/>
                </a:lnTo>
                <a:lnTo>
                  <a:pt x="18414997" y="471125"/>
                </a:lnTo>
                <a:lnTo>
                  <a:pt x="0" y="471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63503"/>
            <a:ext cx="18414997" cy="3655047"/>
          </a:xfrm>
          <a:custGeom>
            <a:avLst/>
            <a:gdLst/>
            <a:ahLst/>
            <a:cxnLst/>
            <a:rect r="r" b="b" t="t" l="l"/>
            <a:pathLst>
              <a:path h="3655047" w="18414997">
                <a:moveTo>
                  <a:pt x="0" y="0"/>
                </a:moveTo>
                <a:lnTo>
                  <a:pt x="18414997" y="0"/>
                </a:lnTo>
                <a:lnTo>
                  <a:pt x="18414997" y="3655047"/>
                </a:lnTo>
                <a:lnTo>
                  <a:pt x="0" y="3655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91573" y="1393908"/>
            <a:ext cx="8471402" cy="1021718"/>
          </a:xfrm>
          <a:custGeom>
            <a:avLst/>
            <a:gdLst/>
            <a:ahLst/>
            <a:cxnLst/>
            <a:rect r="r" b="b" t="t" l="l"/>
            <a:pathLst>
              <a:path h="1021718" w="8471402">
                <a:moveTo>
                  <a:pt x="0" y="0"/>
                </a:moveTo>
                <a:lnTo>
                  <a:pt x="8471402" y="0"/>
                </a:lnTo>
                <a:lnTo>
                  <a:pt x="8471402" y="1021718"/>
                </a:lnTo>
                <a:lnTo>
                  <a:pt x="0" y="10217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27491" y="632660"/>
            <a:ext cx="1762963" cy="1782966"/>
          </a:xfrm>
          <a:custGeom>
            <a:avLst/>
            <a:gdLst/>
            <a:ahLst/>
            <a:cxnLst/>
            <a:rect r="r" b="b" t="t" l="l"/>
            <a:pathLst>
              <a:path h="1782966" w="1762963">
                <a:moveTo>
                  <a:pt x="0" y="0"/>
                </a:moveTo>
                <a:lnTo>
                  <a:pt x="1762963" y="0"/>
                </a:lnTo>
                <a:lnTo>
                  <a:pt x="1762963" y="1782966"/>
                </a:lnTo>
                <a:lnTo>
                  <a:pt x="0" y="17829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127491" y="632660"/>
            <a:ext cx="1762963" cy="1782966"/>
            <a:chOff x="0" y="0"/>
            <a:chExt cx="2350618" cy="23772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50643" cy="2377313"/>
            </a:xfrm>
            <a:custGeom>
              <a:avLst/>
              <a:gdLst/>
              <a:ahLst/>
              <a:cxnLst/>
              <a:rect r="r" b="b" t="t" l="l"/>
              <a:pathLst>
                <a:path h="2377313" w="2350643">
                  <a:moveTo>
                    <a:pt x="0" y="0"/>
                  </a:moveTo>
                  <a:lnTo>
                    <a:pt x="2350643" y="0"/>
                  </a:lnTo>
                  <a:lnTo>
                    <a:pt x="2350643" y="2377313"/>
                  </a:lnTo>
                  <a:lnTo>
                    <a:pt x="0" y="2377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1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2426" y="563108"/>
            <a:ext cx="1863290" cy="1852517"/>
            <a:chOff x="0" y="0"/>
            <a:chExt cx="2484387" cy="24700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84374" cy="2470023"/>
            </a:xfrm>
            <a:custGeom>
              <a:avLst/>
              <a:gdLst/>
              <a:ahLst/>
              <a:cxnLst/>
              <a:rect r="r" b="b" t="t" l="l"/>
              <a:pathLst>
                <a:path h="2470023" w="2484374">
                  <a:moveTo>
                    <a:pt x="0" y="0"/>
                  </a:moveTo>
                  <a:lnTo>
                    <a:pt x="2484374" y="0"/>
                  </a:lnTo>
                  <a:lnTo>
                    <a:pt x="2484374" y="2470023"/>
                  </a:lnTo>
                  <a:lnTo>
                    <a:pt x="0" y="2470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847" t="0" r="-884" b="-930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8100" y="5676538"/>
            <a:ext cx="5170360" cy="698497"/>
          </a:xfrm>
          <a:custGeom>
            <a:avLst/>
            <a:gdLst/>
            <a:ahLst/>
            <a:cxnLst/>
            <a:rect r="r" b="b" t="t" l="l"/>
            <a:pathLst>
              <a:path h="698497" w="5170360">
                <a:moveTo>
                  <a:pt x="0" y="0"/>
                </a:moveTo>
                <a:lnTo>
                  <a:pt x="5170360" y="0"/>
                </a:lnTo>
                <a:lnTo>
                  <a:pt x="5170360" y="698497"/>
                </a:lnTo>
                <a:lnTo>
                  <a:pt x="0" y="6984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5725" y="6508385"/>
            <a:ext cx="6792839" cy="698497"/>
          </a:xfrm>
          <a:custGeom>
            <a:avLst/>
            <a:gdLst/>
            <a:ahLst/>
            <a:cxnLst/>
            <a:rect r="r" b="b" t="t" l="l"/>
            <a:pathLst>
              <a:path h="698497" w="6792839">
                <a:moveTo>
                  <a:pt x="0" y="0"/>
                </a:moveTo>
                <a:lnTo>
                  <a:pt x="6792839" y="0"/>
                </a:lnTo>
                <a:lnTo>
                  <a:pt x="6792839" y="698497"/>
                </a:lnTo>
                <a:lnTo>
                  <a:pt x="0" y="6984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64550" y="7340232"/>
            <a:ext cx="3970220" cy="698497"/>
          </a:xfrm>
          <a:custGeom>
            <a:avLst/>
            <a:gdLst/>
            <a:ahLst/>
            <a:cxnLst/>
            <a:rect r="r" b="b" t="t" l="l"/>
            <a:pathLst>
              <a:path h="698497" w="3970220">
                <a:moveTo>
                  <a:pt x="0" y="0"/>
                </a:moveTo>
                <a:lnTo>
                  <a:pt x="3970220" y="0"/>
                </a:lnTo>
                <a:lnTo>
                  <a:pt x="3970220" y="698497"/>
                </a:lnTo>
                <a:lnTo>
                  <a:pt x="0" y="6984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91839" y="4844682"/>
            <a:ext cx="3862873" cy="698497"/>
          </a:xfrm>
          <a:custGeom>
            <a:avLst/>
            <a:gdLst/>
            <a:ahLst/>
            <a:cxnLst/>
            <a:rect r="r" b="b" t="t" l="l"/>
            <a:pathLst>
              <a:path h="698497" w="3862873">
                <a:moveTo>
                  <a:pt x="0" y="0"/>
                </a:moveTo>
                <a:lnTo>
                  <a:pt x="3862873" y="0"/>
                </a:lnTo>
                <a:lnTo>
                  <a:pt x="3862873" y="698497"/>
                </a:lnTo>
                <a:lnTo>
                  <a:pt x="0" y="69849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02426" y="563108"/>
            <a:ext cx="1863290" cy="1852517"/>
          </a:xfrm>
          <a:custGeom>
            <a:avLst/>
            <a:gdLst/>
            <a:ahLst/>
            <a:cxnLst/>
            <a:rect r="r" b="b" t="t" l="l"/>
            <a:pathLst>
              <a:path h="1852517" w="1863290">
                <a:moveTo>
                  <a:pt x="0" y="0"/>
                </a:moveTo>
                <a:lnTo>
                  <a:pt x="1863290" y="0"/>
                </a:lnTo>
                <a:lnTo>
                  <a:pt x="1863290" y="1852518"/>
                </a:lnTo>
                <a:lnTo>
                  <a:pt x="0" y="185251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621740" y="405336"/>
            <a:ext cx="9248451" cy="1876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8"/>
              </a:lnSpc>
            </a:pPr>
            <a:r>
              <a:rPr lang="en-US" sz="6598">
                <a:solidFill>
                  <a:srgbClr val="95E8EB"/>
                </a:solidFill>
                <a:latin typeface="Zen Dots"/>
                <a:ea typeface="Zen Dots"/>
                <a:cs typeface="Zen Dots"/>
                <a:sym typeface="Zen Dots"/>
              </a:rPr>
              <a:t>IMPACT-AI-THON</a:t>
            </a:r>
          </a:p>
          <a:p>
            <a:pPr algn="ctr">
              <a:lnSpc>
                <a:spcPts val="8258"/>
              </a:lnSpc>
            </a:pPr>
            <a:r>
              <a:rPr lang="en-US" sz="5899">
                <a:solidFill>
                  <a:srgbClr val="95E8EB"/>
                </a:solidFill>
                <a:latin typeface="Zen Dots"/>
                <a:ea typeface="Zen Dots"/>
                <a:cs typeface="Zen Dots"/>
                <a:sym typeface="Zen Dots"/>
              </a:rPr>
              <a:t>2026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1205" y="4340854"/>
            <a:ext cx="7450093" cy="5455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6"/>
              </a:lnSpc>
            </a:pPr>
            <a:r>
              <a:rPr lang="en-US" b="true" sz="3700">
                <a:solidFill>
                  <a:srgbClr val="0F2355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Project Title          :</a:t>
            </a:r>
          </a:p>
          <a:p>
            <a:pPr algn="l">
              <a:lnSpc>
                <a:spcPts val="6056"/>
              </a:lnSpc>
            </a:pPr>
            <a:r>
              <a:rPr lang="en-US" b="true" sz="3700">
                <a:solidFill>
                  <a:srgbClr val="0F2355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              </a:t>
            </a:r>
          </a:p>
          <a:p>
            <a:pPr algn="l">
              <a:lnSpc>
                <a:spcPts val="6056"/>
              </a:lnSpc>
            </a:pPr>
            <a:r>
              <a:rPr lang="en-US" b="true" sz="3700">
                <a:solidFill>
                  <a:srgbClr val="0F2355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Track Name           :</a:t>
            </a:r>
          </a:p>
          <a:p>
            <a:pPr algn="l">
              <a:lnSpc>
                <a:spcPts val="5893"/>
              </a:lnSpc>
            </a:pPr>
            <a:r>
              <a:rPr lang="en-US" b="true" sz="3600">
                <a:solidFill>
                  <a:srgbClr val="0F2355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Statement :</a:t>
            </a:r>
          </a:p>
          <a:p>
            <a:pPr algn="l">
              <a:lnSpc>
                <a:spcPts val="6547"/>
              </a:lnSpc>
            </a:pPr>
          </a:p>
          <a:p>
            <a:pPr algn="l">
              <a:lnSpc>
                <a:spcPts val="6547"/>
              </a:lnSpc>
            </a:pPr>
          </a:p>
          <a:p>
            <a:pPr algn="l">
              <a:lnSpc>
                <a:spcPts val="5893"/>
              </a:lnSpc>
            </a:pPr>
            <a:r>
              <a:rPr lang="en-US" b="true" sz="3600">
                <a:solidFill>
                  <a:srgbClr val="0F2355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Team Name             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47197" y="4445629"/>
            <a:ext cx="11761775" cy="116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Real-Time</a:t>
            </a: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Fraud Detection &amp; Digital Account Opening (DAO) Identity Defense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21740" y="6010850"/>
            <a:ext cx="4957167" cy="60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8"/>
              </a:lnSpc>
              <a:spcBef>
                <a:spcPct val="0"/>
              </a:spcBef>
            </a:pPr>
            <a:r>
              <a:rPr lang="en-US" sz="319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319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rack 1 – Market and Minds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34770" y="6812885"/>
            <a:ext cx="12544425" cy="2133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8"/>
              </a:lnSpc>
              <a:spcBef>
                <a:spcPct val="0"/>
              </a:spcBef>
            </a:pPr>
            <a:r>
              <a:rPr lang="en-US" sz="299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Fraud in digital banking </a:t>
            </a:r>
            <a:r>
              <a:rPr lang="en-US" sz="299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occurs both at account onboarding and during transactions, often detected only after losses are incurred. To address this, banks need a real-time and explainable fraud prevention system that blocks fake identities and high-risk transactions at the source.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34770" y="9144000"/>
            <a:ext cx="2304306" cy="5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8"/>
              </a:lnSpc>
              <a:spcBef>
                <a:spcPct val="0"/>
              </a:spcBef>
            </a:pPr>
            <a:r>
              <a:rPr lang="en-US" sz="299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Deviators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155697"/>
          </a:xfrm>
          <a:custGeom>
            <a:avLst/>
            <a:gdLst/>
            <a:ahLst/>
            <a:cxnLst/>
            <a:rect r="r" b="b" t="t" l="l"/>
            <a:pathLst>
              <a:path h="1155697" w="18414997">
                <a:moveTo>
                  <a:pt x="0" y="0"/>
                </a:moveTo>
                <a:lnTo>
                  <a:pt x="18414997" y="0"/>
                </a:lnTo>
                <a:lnTo>
                  <a:pt x="18414997" y="1155697"/>
                </a:lnTo>
                <a:lnTo>
                  <a:pt x="0" y="1155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33429" y="1171975"/>
            <a:ext cx="7621143" cy="7943040"/>
            <a:chOff x="0" y="0"/>
            <a:chExt cx="10161524" cy="105907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1524" cy="10590784"/>
            </a:xfrm>
            <a:custGeom>
              <a:avLst/>
              <a:gdLst/>
              <a:ahLst/>
              <a:cxnLst/>
              <a:rect r="r" b="b" t="t" l="l"/>
              <a:pathLst>
                <a:path h="10590784" w="10161524">
                  <a:moveTo>
                    <a:pt x="0" y="0"/>
                  </a:moveTo>
                  <a:lnTo>
                    <a:pt x="10161524" y="0"/>
                  </a:lnTo>
                  <a:lnTo>
                    <a:pt x="10161524" y="10590784"/>
                  </a:lnTo>
                  <a:lnTo>
                    <a:pt x="0" y="1059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22" t="0" r="-2722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50909" y="1280555"/>
            <a:ext cx="16386172" cy="8070047"/>
          </a:xfrm>
          <a:custGeom>
            <a:avLst/>
            <a:gdLst/>
            <a:ahLst/>
            <a:cxnLst/>
            <a:rect r="r" b="b" t="t" l="l"/>
            <a:pathLst>
              <a:path h="8070047" w="16386172">
                <a:moveTo>
                  <a:pt x="0" y="0"/>
                </a:moveTo>
                <a:lnTo>
                  <a:pt x="16386172" y="0"/>
                </a:lnTo>
                <a:lnTo>
                  <a:pt x="16386172" y="8070047"/>
                </a:lnTo>
                <a:lnTo>
                  <a:pt x="0" y="80700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26241" y="133988"/>
            <a:ext cx="5435527" cy="665483"/>
          </a:xfrm>
          <a:custGeom>
            <a:avLst/>
            <a:gdLst/>
            <a:ahLst/>
            <a:cxnLst/>
            <a:rect r="r" b="b" t="t" l="l"/>
            <a:pathLst>
              <a:path h="665483" w="5435527">
                <a:moveTo>
                  <a:pt x="0" y="0"/>
                </a:moveTo>
                <a:lnTo>
                  <a:pt x="5435527" y="0"/>
                </a:lnTo>
                <a:lnTo>
                  <a:pt x="5435527" y="665483"/>
                </a:lnTo>
                <a:lnTo>
                  <a:pt x="0" y="6654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335842" y="47377"/>
            <a:ext cx="923458" cy="933936"/>
            <a:chOff x="0" y="0"/>
            <a:chExt cx="1231278" cy="12452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1265" cy="1245235"/>
            </a:xfrm>
            <a:custGeom>
              <a:avLst/>
              <a:gdLst/>
              <a:ahLst/>
              <a:cxnLst/>
              <a:rect r="r" b="b" t="t" l="l"/>
              <a:pathLst>
                <a:path h="1245235" w="1231265">
                  <a:moveTo>
                    <a:pt x="0" y="0"/>
                  </a:moveTo>
                  <a:lnTo>
                    <a:pt x="1231265" y="0"/>
                  </a:lnTo>
                  <a:lnTo>
                    <a:pt x="1231265" y="1245235"/>
                  </a:lnTo>
                  <a:lnTo>
                    <a:pt x="0" y="1245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" b="-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63503" y="9879378"/>
            <a:ext cx="18414997" cy="471126"/>
          </a:xfrm>
          <a:custGeom>
            <a:avLst/>
            <a:gdLst/>
            <a:ahLst/>
            <a:cxnLst/>
            <a:rect r="r" b="b" t="t" l="l"/>
            <a:pathLst>
              <a:path h="471126" w="18414997">
                <a:moveTo>
                  <a:pt x="0" y="0"/>
                </a:moveTo>
                <a:lnTo>
                  <a:pt x="18414997" y="0"/>
                </a:lnTo>
                <a:lnTo>
                  <a:pt x="18414997" y="471125"/>
                </a:lnTo>
                <a:lnTo>
                  <a:pt x="0" y="471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35842" y="47377"/>
            <a:ext cx="923458" cy="933936"/>
          </a:xfrm>
          <a:custGeom>
            <a:avLst/>
            <a:gdLst/>
            <a:ahLst/>
            <a:cxnLst/>
            <a:rect r="r" b="b" t="t" l="l"/>
            <a:pathLst>
              <a:path h="933936" w="923458">
                <a:moveTo>
                  <a:pt x="0" y="0"/>
                </a:moveTo>
                <a:lnTo>
                  <a:pt x="923458" y="0"/>
                </a:lnTo>
                <a:lnTo>
                  <a:pt x="923458" y="933936"/>
                </a:lnTo>
                <a:lnTo>
                  <a:pt x="0" y="9339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62463" y="0"/>
            <a:ext cx="987028" cy="981323"/>
            <a:chOff x="0" y="0"/>
            <a:chExt cx="1316038" cy="13084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5974" cy="1308481"/>
            </a:xfrm>
            <a:custGeom>
              <a:avLst/>
              <a:gdLst/>
              <a:ahLst/>
              <a:cxnLst/>
              <a:rect r="r" b="b" t="t" l="l"/>
              <a:pathLst>
                <a:path h="1308481" w="1315974">
                  <a:moveTo>
                    <a:pt x="0" y="0"/>
                  </a:moveTo>
                  <a:lnTo>
                    <a:pt x="1315974" y="0"/>
                  </a:lnTo>
                  <a:lnTo>
                    <a:pt x="1315974" y="1308481"/>
                  </a:lnTo>
                  <a:lnTo>
                    <a:pt x="0" y="1308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847" t="0" r="-888" b="-9297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62463" y="0"/>
            <a:ext cx="987028" cy="981323"/>
          </a:xfrm>
          <a:custGeom>
            <a:avLst/>
            <a:gdLst/>
            <a:ahLst/>
            <a:cxnLst/>
            <a:rect r="r" b="b" t="t" l="l"/>
            <a:pathLst>
              <a:path h="981323" w="987028">
                <a:moveTo>
                  <a:pt x="0" y="0"/>
                </a:moveTo>
                <a:lnTo>
                  <a:pt x="987028" y="0"/>
                </a:lnTo>
                <a:lnTo>
                  <a:pt x="987028" y="981323"/>
                </a:lnTo>
                <a:lnTo>
                  <a:pt x="0" y="98132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165724" y="129321"/>
            <a:ext cx="4033923" cy="66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b="true" sz="37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IMPACT-AI-THON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6939" y="2184178"/>
            <a:ext cx="3531245" cy="53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1"/>
              </a:lnSpc>
            </a:pPr>
            <a:r>
              <a:rPr lang="en-US" b="true" sz="305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2758" y="3155375"/>
            <a:ext cx="12098089" cy="779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2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•The Gap: Identify the specific pain point or inefficiency in the current market.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36471" y="4039295"/>
            <a:ext cx="12765435" cy="779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2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•Evidence: "Current users spend $[X] amount on [inefficient process] every year."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82817" y="4953629"/>
            <a:ext cx="15356532" cy="779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2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•The Impact: Why does this problem matter? (e.g., lost time, high costs, or environmental impact).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155697"/>
          </a:xfrm>
          <a:custGeom>
            <a:avLst/>
            <a:gdLst/>
            <a:ahLst/>
            <a:cxnLst/>
            <a:rect r="r" b="b" t="t" l="l"/>
            <a:pathLst>
              <a:path h="1155697" w="18414997">
                <a:moveTo>
                  <a:pt x="0" y="0"/>
                </a:moveTo>
                <a:lnTo>
                  <a:pt x="18414997" y="0"/>
                </a:lnTo>
                <a:lnTo>
                  <a:pt x="18414997" y="1155697"/>
                </a:lnTo>
                <a:lnTo>
                  <a:pt x="0" y="1155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33429" y="1171975"/>
            <a:ext cx="7621143" cy="7943040"/>
            <a:chOff x="0" y="0"/>
            <a:chExt cx="10161524" cy="105907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1524" cy="10590784"/>
            </a:xfrm>
            <a:custGeom>
              <a:avLst/>
              <a:gdLst/>
              <a:ahLst/>
              <a:cxnLst/>
              <a:rect r="r" b="b" t="t" l="l"/>
              <a:pathLst>
                <a:path h="10590784" w="10161524">
                  <a:moveTo>
                    <a:pt x="0" y="0"/>
                  </a:moveTo>
                  <a:lnTo>
                    <a:pt x="10161524" y="0"/>
                  </a:lnTo>
                  <a:lnTo>
                    <a:pt x="10161524" y="10590784"/>
                  </a:lnTo>
                  <a:lnTo>
                    <a:pt x="0" y="1059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22" t="0" r="-2722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36622" y="1108481"/>
            <a:ext cx="12403817" cy="8070047"/>
          </a:xfrm>
          <a:custGeom>
            <a:avLst/>
            <a:gdLst/>
            <a:ahLst/>
            <a:cxnLst/>
            <a:rect r="r" b="b" t="t" l="l"/>
            <a:pathLst>
              <a:path h="8070047" w="12403817">
                <a:moveTo>
                  <a:pt x="0" y="0"/>
                </a:moveTo>
                <a:lnTo>
                  <a:pt x="12403817" y="0"/>
                </a:lnTo>
                <a:lnTo>
                  <a:pt x="12403817" y="8070047"/>
                </a:lnTo>
                <a:lnTo>
                  <a:pt x="0" y="80700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26241" y="133988"/>
            <a:ext cx="5435527" cy="665483"/>
          </a:xfrm>
          <a:custGeom>
            <a:avLst/>
            <a:gdLst/>
            <a:ahLst/>
            <a:cxnLst/>
            <a:rect r="r" b="b" t="t" l="l"/>
            <a:pathLst>
              <a:path h="665483" w="5435527">
                <a:moveTo>
                  <a:pt x="0" y="0"/>
                </a:moveTo>
                <a:lnTo>
                  <a:pt x="5435527" y="0"/>
                </a:lnTo>
                <a:lnTo>
                  <a:pt x="5435527" y="665483"/>
                </a:lnTo>
                <a:lnTo>
                  <a:pt x="0" y="6654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335842" y="47377"/>
            <a:ext cx="923458" cy="933936"/>
            <a:chOff x="0" y="0"/>
            <a:chExt cx="1231278" cy="12452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1265" cy="1245235"/>
            </a:xfrm>
            <a:custGeom>
              <a:avLst/>
              <a:gdLst/>
              <a:ahLst/>
              <a:cxnLst/>
              <a:rect r="r" b="b" t="t" l="l"/>
              <a:pathLst>
                <a:path h="1245235" w="1231265">
                  <a:moveTo>
                    <a:pt x="0" y="0"/>
                  </a:moveTo>
                  <a:lnTo>
                    <a:pt x="1231265" y="0"/>
                  </a:lnTo>
                  <a:lnTo>
                    <a:pt x="1231265" y="1245235"/>
                  </a:lnTo>
                  <a:lnTo>
                    <a:pt x="0" y="1245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" b="-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63503" y="9879378"/>
            <a:ext cx="18414997" cy="471126"/>
          </a:xfrm>
          <a:custGeom>
            <a:avLst/>
            <a:gdLst/>
            <a:ahLst/>
            <a:cxnLst/>
            <a:rect r="r" b="b" t="t" l="l"/>
            <a:pathLst>
              <a:path h="471126" w="18414997">
                <a:moveTo>
                  <a:pt x="0" y="0"/>
                </a:moveTo>
                <a:lnTo>
                  <a:pt x="18414997" y="0"/>
                </a:lnTo>
                <a:lnTo>
                  <a:pt x="18414997" y="471125"/>
                </a:lnTo>
                <a:lnTo>
                  <a:pt x="0" y="471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35842" y="47377"/>
            <a:ext cx="923458" cy="933936"/>
          </a:xfrm>
          <a:custGeom>
            <a:avLst/>
            <a:gdLst/>
            <a:ahLst/>
            <a:cxnLst/>
            <a:rect r="r" b="b" t="t" l="l"/>
            <a:pathLst>
              <a:path h="933936" w="923458">
                <a:moveTo>
                  <a:pt x="0" y="0"/>
                </a:moveTo>
                <a:lnTo>
                  <a:pt x="923458" y="0"/>
                </a:lnTo>
                <a:lnTo>
                  <a:pt x="923458" y="933936"/>
                </a:lnTo>
                <a:lnTo>
                  <a:pt x="0" y="9339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62463" y="0"/>
            <a:ext cx="987028" cy="981323"/>
            <a:chOff x="0" y="0"/>
            <a:chExt cx="1316038" cy="13084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5974" cy="1308481"/>
            </a:xfrm>
            <a:custGeom>
              <a:avLst/>
              <a:gdLst/>
              <a:ahLst/>
              <a:cxnLst/>
              <a:rect r="r" b="b" t="t" l="l"/>
              <a:pathLst>
                <a:path h="1308481" w="1315974">
                  <a:moveTo>
                    <a:pt x="0" y="0"/>
                  </a:moveTo>
                  <a:lnTo>
                    <a:pt x="1315974" y="0"/>
                  </a:lnTo>
                  <a:lnTo>
                    <a:pt x="1315974" y="1308481"/>
                  </a:lnTo>
                  <a:lnTo>
                    <a:pt x="0" y="1308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847" t="0" r="-888" b="-9297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62463" y="0"/>
            <a:ext cx="987028" cy="981323"/>
          </a:xfrm>
          <a:custGeom>
            <a:avLst/>
            <a:gdLst/>
            <a:ahLst/>
            <a:cxnLst/>
            <a:rect r="r" b="b" t="t" l="l"/>
            <a:pathLst>
              <a:path h="981323" w="987028">
                <a:moveTo>
                  <a:pt x="0" y="0"/>
                </a:moveTo>
                <a:lnTo>
                  <a:pt x="987028" y="0"/>
                </a:lnTo>
                <a:lnTo>
                  <a:pt x="987028" y="981323"/>
                </a:lnTo>
                <a:lnTo>
                  <a:pt x="0" y="98132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165724" y="129321"/>
            <a:ext cx="4033923" cy="66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b="true" sz="37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IMPACT-AI-THON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6939" y="2184178"/>
            <a:ext cx="2588733" cy="53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1"/>
              </a:lnSpc>
            </a:pPr>
            <a:r>
              <a:rPr lang="en-US" b="true" sz="305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Idea Proposal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48142" y="3155375"/>
            <a:ext cx="10162575" cy="78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2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•The Solution: A high-level overview of your product or service.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89014" y="4039295"/>
            <a:ext cx="8026965" cy="78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2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•Key Functionality: How it works in one sentence.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69250" y="4953629"/>
            <a:ext cx="11337712" cy="78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72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•Vision: "Our goal is to redefine how [industry] handles [specific task]."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155697"/>
          </a:xfrm>
          <a:custGeom>
            <a:avLst/>
            <a:gdLst/>
            <a:ahLst/>
            <a:cxnLst/>
            <a:rect r="r" b="b" t="t" l="l"/>
            <a:pathLst>
              <a:path h="1155697" w="18414997">
                <a:moveTo>
                  <a:pt x="0" y="0"/>
                </a:moveTo>
                <a:lnTo>
                  <a:pt x="18414997" y="0"/>
                </a:lnTo>
                <a:lnTo>
                  <a:pt x="18414997" y="1155697"/>
                </a:lnTo>
                <a:lnTo>
                  <a:pt x="0" y="1155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33429" y="1171975"/>
            <a:ext cx="7621143" cy="7943040"/>
            <a:chOff x="0" y="0"/>
            <a:chExt cx="10161524" cy="105907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1524" cy="10590784"/>
            </a:xfrm>
            <a:custGeom>
              <a:avLst/>
              <a:gdLst/>
              <a:ahLst/>
              <a:cxnLst/>
              <a:rect r="r" b="b" t="t" l="l"/>
              <a:pathLst>
                <a:path h="10590784" w="10161524">
                  <a:moveTo>
                    <a:pt x="0" y="0"/>
                  </a:moveTo>
                  <a:lnTo>
                    <a:pt x="10161524" y="0"/>
                  </a:lnTo>
                  <a:lnTo>
                    <a:pt x="10161524" y="10590784"/>
                  </a:lnTo>
                  <a:lnTo>
                    <a:pt x="0" y="1059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22" t="0" r="-2722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5267325"/>
            <a:ext cx="2518277" cy="500377"/>
          </a:xfrm>
          <a:custGeom>
            <a:avLst/>
            <a:gdLst/>
            <a:ahLst/>
            <a:cxnLst/>
            <a:rect r="r" b="b" t="t" l="l"/>
            <a:pathLst>
              <a:path h="500377" w="2518277">
                <a:moveTo>
                  <a:pt x="0" y="0"/>
                </a:moveTo>
                <a:lnTo>
                  <a:pt x="2518277" y="0"/>
                </a:lnTo>
                <a:lnTo>
                  <a:pt x="2518277" y="500377"/>
                </a:lnTo>
                <a:lnTo>
                  <a:pt x="0" y="5003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5197" y="1108481"/>
            <a:ext cx="16843648" cy="8070047"/>
          </a:xfrm>
          <a:custGeom>
            <a:avLst/>
            <a:gdLst/>
            <a:ahLst/>
            <a:cxnLst/>
            <a:rect r="r" b="b" t="t" l="l"/>
            <a:pathLst>
              <a:path h="8070047" w="16843648">
                <a:moveTo>
                  <a:pt x="0" y="0"/>
                </a:moveTo>
                <a:lnTo>
                  <a:pt x="16843648" y="0"/>
                </a:lnTo>
                <a:lnTo>
                  <a:pt x="16843648" y="8070047"/>
                </a:lnTo>
                <a:lnTo>
                  <a:pt x="0" y="80700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26241" y="133988"/>
            <a:ext cx="5435527" cy="665483"/>
          </a:xfrm>
          <a:custGeom>
            <a:avLst/>
            <a:gdLst/>
            <a:ahLst/>
            <a:cxnLst/>
            <a:rect r="r" b="b" t="t" l="l"/>
            <a:pathLst>
              <a:path h="665483" w="5435527">
                <a:moveTo>
                  <a:pt x="0" y="0"/>
                </a:moveTo>
                <a:lnTo>
                  <a:pt x="5435527" y="0"/>
                </a:lnTo>
                <a:lnTo>
                  <a:pt x="5435527" y="665483"/>
                </a:lnTo>
                <a:lnTo>
                  <a:pt x="0" y="6654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335842" y="47377"/>
            <a:ext cx="923458" cy="933936"/>
            <a:chOff x="0" y="0"/>
            <a:chExt cx="1231278" cy="12452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1265" cy="1245235"/>
            </a:xfrm>
            <a:custGeom>
              <a:avLst/>
              <a:gdLst/>
              <a:ahLst/>
              <a:cxnLst/>
              <a:rect r="r" b="b" t="t" l="l"/>
              <a:pathLst>
                <a:path h="1245235" w="1231265">
                  <a:moveTo>
                    <a:pt x="0" y="0"/>
                  </a:moveTo>
                  <a:lnTo>
                    <a:pt x="1231265" y="0"/>
                  </a:lnTo>
                  <a:lnTo>
                    <a:pt x="1231265" y="1245235"/>
                  </a:lnTo>
                  <a:lnTo>
                    <a:pt x="0" y="1245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" b="-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63503" y="9879378"/>
            <a:ext cx="18414997" cy="471126"/>
          </a:xfrm>
          <a:custGeom>
            <a:avLst/>
            <a:gdLst/>
            <a:ahLst/>
            <a:cxnLst/>
            <a:rect r="r" b="b" t="t" l="l"/>
            <a:pathLst>
              <a:path h="471126" w="18414997">
                <a:moveTo>
                  <a:pt x="0" y="0"/>
                </a:moveTo>
                <a:lnTo>
                  <a:pt x="18414997" y="0"/>
                </a:lnTo>
                <a:lnTo>
                  <a:pt x="18414997" y="471125"/>
                </a:lnTo>
                <a:lnTo>
                  <a:pt x="0" y="4711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335842" y="47377"/>
            <a:ext cx="923458" cy="933936"/>
          </a:xfrm>
          <a:custGeom>
            <a:avLst/>
            <a:gdLst/>
            <a:ahLst/>
            <a:cxnLst/>
            <a:rect r="r" b="b" t="t" l="l"/>
            <a:pathLst>
              <a:path h="933936" w="923458">
                <a:moveTo>
                  <a:pt x="0" y="0"/>
                </a:moveTo>
                <a:lnTo>
                  <a:pt x="923458" y="0"/>
                </a:lnTo>
                <a:lnTo>
                  <a:pt x="923458" y="933936"/>
                </a:lnTo>
                <a:lnTo>
                  <a:pt x="0" y="9339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62463" y="0"/>
            <a:ext cx="987028" cy="981323"/>
            <a:chOff x="0" y="0"/>
            <a:chExt cx="1316038" cy="13084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5974" cy="1308481"/>
            </a:xfrm>
            <a:custGeom>
              <a:avLst/>
              <a:gdLst/>
              <a:ahLst/>
              <a:cxnLst/>
              <a:rect r="r" b="b" t="t" l="l"/>
              <a:pathLst>
                <a:path h="1308481" w="1315974">
                  <a:moveTo>
                    <a:pt x="0" y="0"/>
                  </a:moveTo>
                  <a:lnTo>
                    <a:pt x="1315974" y="0"/>
                  </a:lnTo>
                  <a:lnTo>
                    <a:pt x="1315974" y="1308481"/>
                  </a:lnTo>
                  <a:lnTo>
                    <a:pt x="0" y="1308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847" t="0" r="-888" b="-9297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62463" y="0"/>
            <a:ext cx="987028" cy="981323"/>
          </a:xfrm>
          <a:custGeom>
            <a:avLst/>
            <a:gdLst/>
            <a:ahLst/>
            <a:cxnLst/>
            <a:rect r="r" b="b" t="t" l="l"/>
            <a:pathLst>
              <a:path h="981323" w="987028">
                <a:moveTo>
                  <a:pt x="0" y="0"/>
                </a:moveTo>
                <a:lnTo>
                  <a:pt x="987028" y="0"/>
                </a:lnTo>
                <a:lnTo>
                  <a:pt x="987028" y="981323"/>
                </a:lnTo>
                <a:lnTo>
                  <a:pt x="0" y="98132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165724" y="129321"/>
            <a:ext cx="4033923" cy="66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b="true" sz="37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IMPACT-AI-THON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6939" y="2184178"/>
            <a:ext cx="8525828" cy="53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1"/>
              </a:lnSpc>
            </a:pPr>
            <a:r>
              <a:rPr lang="en-US" b="true" sz="305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Unique Value Proposition (UVP) &amp; Tech Stack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2625" y="5010779"/>
            <a:ext cx="2126666" cy="72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9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•Tech Stack: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07691" y="5815965"/>
            <a:ext cx="8689772" cy="251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9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•Frontend: [e.g., React, Flutter]</a:t>
            </a:r>
          </a:p>
          <a:p>
            <a:pPr algn="l">
              <a:lnSpc>
                <a:spcPts val="3064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•Backend: [e.g., Node.js, Python/Django]</a:t>
            </a:r>
          </a:p>
          <a:p>
            <a:pPr algn="l">
              <a:lnSpc>
                <a:spcPts val="6339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•Database/Cloud: [e.g., PostgreSQL, AWS, Firebase]</a:t>
            </a:r>
          </a:p>
          <a:p>
            <a:pPr algn="l">
              <a:lnSpc>
                <a:spcPts val="3064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•Core Logic: [e.g., OpenAI API, Proprietary Algorithm]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9615" y="3441125"/>
            <a:ext cx="16463172" cy="49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•UVP: Why are you better than competitors? (e.g., 10x faster, 50% cheaper, or first-to-market feature).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155697"/>
          </a:xfrm>
          <a:custGeom>
            <a:avLst/>
            <a:gdLst/>
            <a:ahLst/>
            <a:cxnLst/>
            <a:rect r="r" b="b" t="t" l="l"/>
            <a:pathLst>
              <a:path h="1155697" w="18414997">
                <a:moveTo>
                  <a:pt x="0" y="0"/>
                </a:moveTo>
                <a:lnTo>
                  <a:pt x="18414997" y="0"/>
                </a:lnTo>
                <a:lnTo>
                  <a:pt x="18414997" y="1155697"/>
                </a:lnTo>
                <a:lnTo>
                  <a:pt x="0" y="1155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33429" y="1171975"/>
            <a:ext cx="7621143" cy="7943040"/>
            <a:chOff x="0" y="0"/>
            <a:chExt cx="10161524" cy="105907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1524" cy="10590784"/>
            </a:xfrm>
            <a:custGeom>
              <a:avLst/>
              <a:gdLst/>
              <a:ahLst/>
              <a:cxnLst/>
              <a:rect r="r" b="b" t="t" l="l"/>
              <a:pathLst>
                <a:path h="10590784" w="10161524">
                  <a:moveTo>
                    <a:pt x="0" y="0"/>
                  </a:moveTo>
                  <a:lnTo>
                    <a:pt x="10161524" y="0"/>
                  </a:lnTo>
                  <a:lnTo>
                    <a:pt x="10161524" y="10590784"/>
                  </a:lnTo>
                  <a:lnTo>
                    <a:pt x="0" y="1059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22" t="0" r="-2722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55672" y="1108481"/>
            <a:ext cx="13992606" cy="8070047"/>
          </a:xfrm>
          <a:custGeom>
            <a:avLst/>
            <a:gdLst/>
            <a:ahLst/>
            <a:cxnLst/>
            <a:rect r="r" b="b" t="t" l="l"/>
            <a:pathLst>
              <a:path h="8070047" w="13992606">
                <a:moveTo>
                  <a:pt x="0" y="0"/>
                </a:moveTo>
                <a:lnTo>
                  <a:pt x="13992606" y="0"/>
                </a:lnTo>
                <a:lnTo>
                  <a:pt x="13992606" y="8070047"/>
                </a:lnTo>
                <a:lnTo>
                  <a:pt x="0" y="80700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26241" y="133988"/>
            <a:ext cx="5435527" cy="665483"/>
          </a:xfrm>
          <a:custGeom>
            <a:avLst/>
            <a:gdLst/>
            <a:ahLst/>
            <a:cxnLst/>
            <a:rect r="r" b="b" t="t" l="l"/>
            <a:pathLst>
              <a:path h="665483" w="5435527">
                <a:moveTo>
                  <a:pt x="0" y="0"/>
                </a:moveTo>
                <a:lnTo>
                  <a:pt x="5435527" y="0"/>
                </a:lnTo>
                <a:lnTo>
                  <a:pt x="5435527" y="665483"/>
                </a:lnTo>
                <a:lnTo>
                  <a:pt x="0" y="6654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335842" y="47377"/>
            <a:ext cx="923458" cy="933936"/>
            <a:chOff x="0" y="0"/>
            <a:chExt cx="1231278" cy="12452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1265" cy="1245235"/>
            </a:xfrm>
            <a:custGeom>
              <a:avLst/>
              <a:gdLst/>
              <a:ahLst/>
              <a:cxnLst/>
              <a:rect r="r" b="b" t="t" l="l"/>
              <a:pathLst>
                <a:path h="1245235" w="1231265">
                  <a:moveTo>
                    <a:pt x="0" y="0"/>
                  </a:moveTo>
                  <a:lnTo>
                    <a:pt x="1231265" y="0"/>
                  </a:lnTo>
                  <a:lnTo>
                    <a:pt x="1231265" y="1245235"/>
                  </a:lnTo>
                  <a:lnTo>
                    <a:pt x="0" y="1245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" b="-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63503" y="9879378"/>
            <a:ext cx="18414997" cy="471126"/>
          </a:xfrm>
          <a:custGeom>
            <a:avLst/>
            <a:gdLst/>
            <a:ahLst/>
            <a:cxnLst/>
            <a:rect r="r" b="b" t="t" l="l"/>
            <a:pathLst>
              <a:path h="471126" w="18414997">
                <a:moveTo>
                  <a:pt x="0" y="0"/>
                </a:moveTo>
                <a:lnTo>
                  <a:pt x="18414997" y="0"/>
                </a:lnTo>
                <a:lnTo>
                  <a:pt x="18414997" y="471125"/>
                </a:lnTo>
                <a:lnTo>
                  <a:pt x="0" y="471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35842" y="47377"/>
            <a:ext cx="923458" cy="933936"/>
          </a:xfrm>
          <a:custGeom>
            <a:avLst/>
            <a:gdLst/>
            <a:ahLst/>
            <a:cxnLst/>
            <a:rect r="r" b="b" t="t" l="l"/>
            <a:pathLst>
              <a:path h="933936" w="923458">
                <a:moveTo>
                  <a:pt x="0" y="0"/>
                </a:moveTo>
                <a:lnTo>
                  <a:pt x="923458" y="0"/>
                </a:lnTo>
                <a:lnTo>
                  <a:pt x="923458" y="933936"/>
                </a:lnTo>
                <a:lnTo>
                  <a:pt x="0" y="9339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62463" y="0"/>
            <a:ext cx="987028" cy="981323"/>
            <a:chOff x="0" y="0"/>
            <a:chExt cx="1316038" cy="13084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5974" cy="1308481"/>
            </a:xfrm>
            <a:custGeom>
              <a:avLst/>
              <a:gdLst/>
              <a:ahLst/>
              <a:cxnLst/>
              <a:rect r="r" b="b" t="t" l="l"/>
              <a:pathLst>
                <a:path h="1308481" w="1315974">
                  <a:moveTo>
                    <a:pt x="0" y="0"/>
                  </a:moveTo>
                  <a:lnTo>
                    <a:pt x="1315974" y="0"/>
                  </a:lnTo>
                  <a:lnTo>
                    <a:pt x="1315974" y="1308481"/>
                  </a:lnTo>
                  <a:lnTo>
                    <a:pt x="0" y="1308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847" t="0" r="-888" b="-9297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62463" y="0"/>
            <a:ext cx="987028" cy="981323"/>
          </a:xfrm>
          <a:custGeom>
            <a:avLst/>
            <a:gdLst/>
            <a:ahLst/>
            <a:cxnLst/>
            <a:rect r="r" b="b" t="t" l="l"/>
            <a:pathLst>
              <a:path h="981323" w="987028">
                <a:moveTo>
                  <a:pt x="0" y="0"/>
                </a:moveTo>
                <a:lnTo>
                  <a:pt x="987028" y="0"/>
                </a:lnTo>
                <a:lnTo>
                  <a:pt x="987028" y="981323"/>
                </a:lnTo>
                <a:lnTo>
                  <a:pt x="0" y="98132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165724" y="129321"/>
            <a:ext cx="4033923" cy="66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b="true" sz="37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IMPACT-AI-THON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6939" y="2184178"/>
            <a:ext cx="1878911" cy="53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1"/>
              </a:lnSpc>
            </a:pPr>
            <a:r>
              <a:rPr lang="en-US" b="true" sz="305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Workflow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27505" y="3155375"/>
            <a:ext cx="8731463" cy="78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7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•Step 1 (Input): User enters data or triggers an action.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17075" y="4074852"/>
            <a:ext cx="12881953" cy="78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7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•Step 2 (Processing): Your system processes the request using your tech stack.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36029" y="4956238"/>
            <a:ext cx="9228201" cy="78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7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•Step 3 (Output): The user receives the final result/value.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155697"/>
          </a:xfrm>
          <a:custGeom>
            <a:avLst/>
            <a:gdLst/>
            <a:ahLst/>
            <a:cxnLst/>
            <a:rect r="r" b="b" t="t" l="l"/>
            <a:pathLst>
              <a:path h="1155697" w="18414997">
                <a:moveTo>
                  <a:pt x="0" y="0"/>
                </a:moveTo>
                <a:lnTo>
                  <a:pt x="18414997" y="0"/>
                </a:lnTo>
                <a:lnTo>
                  <a:pt x="18414997" y="1155697"/>
                </a:lnTo>
                <a:lnTo>
                  <a:pt x="0" y="1155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85804" y="1171975"/>
            <a:ext cx="7621143" cy="7943040"/>
            <a:chOff x="0" y="0"/>
            <a:chExt cx="10161524" cy="105907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1524" cy="10590784"/>
            </a:xfrm>
            <a:custGeom>
              <a:avLst/>
              <a:gdLst/>
              <a:ahLst/>
              <a:cxnLst/>
              <a:rect r="r" b="b" t="t" l="l"/>
              <a:pathLst>
                <a:path h="10590784" w="10161524">
                  <a:moveTo>
                    <a:pt x="0" y="0"/>
                  </a:moveTo>
                  <a:lnTo>
                    <a:pt x="10161524" y="0"/>
                  </a:lnTo>
                  <a:lnTo>
                    <a:pt x="10161524" y="10590784"/>
                  </a:lnTo>
                  <a:lnTo>
                    <a:pt x="0" y="1059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22" t="0" r="-2722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65197" y="1108481"/>
            <a:ext cx="16357597" cy="8070047"/>
          </a:xfrm>
          <a:custGeom>
            <a:avLst/>
            <a:gdLst/>
            <a:ahLst/>
            <a:cxnLst/>
            <a:rect r="r" b="b" t="t" l="l"/>
            <a:pathLst>
              <a:path h="8070047" w="16357597">
                <a:moveTo>
                  <a:pt x="0" y="0"/>
                </a:moveTo>
                <a:lnTo>
                  <a:pt x="16357597" y="0"/>
                </a:lnTo>
                <a:lnTo>
                  <a:pt x="16357597" y="8070047"/>
                </a:lnTo>
                <a:lnTo>
                  <a:pt x="0" y="80700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26241" y="133988"/>
            <a:ext cx="5435527" cy="665483"/>
          </a:xfrm>
          <a:custGeom>
            <a:avLst/>
            <a:gdLst/>
            <a:ahLst/>
            <a:cxnLst/>
            <a:rect r="r" b="b" t="t" l="l"/>
            <a:pathLst>
              <a:path h="665483" w="5435527">
                <a:moveTo>
                  <a:pt x="0" y="0"/>
                </a:moveTo>
                <a:lnTo>
                  <a:pt x="5435527" y="0"/>
                </a:lnTo>
                <a:lnTo>
                  <a:pt x="5435527" y="665483"/>
                </a:lnTo>
                <a:lnTo>
                  <a:pt x="0" y="6654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335842" y="47377"/>
            <a:ext cx="923458" cy="933936"/>
            <a:chOff x="0" y="0"/>
            <a:chExt cx="1231278" cy="12452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1265" cy="1245235"/>
            </a:xfrm>
            <a:custGeom>
              <a:avLst/>
              <a:gdLst/>
              <a:ahLst/>
              <a:cxnLst/>
              <a:rect r="r" b="b" t="t" l="l"/>
              <a:pathLst>
                <a:path h="1245235" w="1231265">
                  <a:moveTo>
                    <a:pt x="0" y="0"/>
                  </a:moveTo>
                  <a:lnTo>
                    <a:pt x="1231265" y="0"/>
                  </a:lnTo>
                  <a:lnTo>
                    <a:pt x="1231265" y="1245235"/>
                  </a:lnTo>
                  <a:lnTo>
                    <a:pt x="0" y="1245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" b="-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63503" y="9879378"/>
            <a:ext cx="18414997" cy="471126"/>
          </a:xfrm>
          <a:custGeom>
            <a:avLst/>
            <a:gdLst/>
            <a:ahLst/>
            <a:cxnLst/>
            <a:rect r="r" b="b" t="t" l="l"/>
            <a:pathLst>
              <a:path h="471126" w="18414997">
                <a:moveTo>
                  <a:pt x="0" y="0"/>
                </a:moveTo>
                <a:lnTo>
                  <a:pt x="18414997" y="0"/>
                </a:lnTo>
                <a:lnTo>
                  <a:pt x="18414997" y="471125"/>
                </a:lnTo>
                <a:lnTo>
                  <a:pt x="0" y="471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35842" y="47377"/>
            <a:ext cx="923458" cy="933936"/>
          </a:xfrm>
          <a:custGeom>
            <a:avLst/>
            <a:gdLst/>
            <a:ahLst/>
            <a:cxnLst/>
            <a:rect r="r" b="b" t="t" l="l"/>
            <a:pathLst>
              <a:path h="933936" w="923458">
                <a:moveTo>
                  <a:pt x="0" y="0"/>
                </a:moveTo>
                <a:lnTo>
                  <a:pt x="923458" y="0"/>
                </a:lnTo>
                <a:lnTo>
                  <a:pt x="923458" y="933936"/>
                </a:lnTo>
                <a:lnTo>
                  <a:pt x="0" y="9339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62463" y="0"/>
            <a:ext cx="987028" cy="981323"/>
            <a:chOff x="0" y="0"/>
            <a:chExt cx="1316038" cy="13084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5974" cy="1308481"/>
            </a:xfrm>
            <a:custGeom>
              <a:avLst/>
              <a:gdLst/>
              <a:ahLst/>
              <a:cxnLst/>
              <a:rect r="r" b="b" t="t" l="l"/>
              <a:pathLst>
                <a:path h="1308481" w="1315974">
                  <a:moveTo>
                    <a:pt x="0" y="0"/>
                  </a:moveTo>
                  <a:lnTo>
                    <a:pt x="1315974" y="0"/>
                  </a:lnTo>
                  <a:lnTo>
                    <a:pt x="1315974" y="1308481"/>
                  </a:lnTo>
                  <a:lnTo>
                    <a:pt x="0" y="1308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847" t="0" r="-888" b="-9297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62463" y="0"/>
            <a:ext cx="987028" cy="981323"/>
          </a:xfrm>
          <a:custGeom>
            <a:avLst/>
            <a:gdLst/>
            <a:ahLst/>
            <a:cxnLst/>
            <a:rect r="r" b="b" t="t" l="l"/>
            <a:pathLst>
              <a:path h="981323" w="987028">
                <a:moveTo>
                  <a:pt x="0" y="0"/>
                </a:moveTo>
                <a:lnTo>
                  <a:pt x="987028" y="0"/>
                </a:lnTo>
                <a:lnTo>
                  <a:pt x="987028" y="981323"/>
                </a:lnTo>
                <a:lnTo>
                  <a:pt x="0" y="98132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165724" y="129321"/>
            <a:ext cx="4033923" cy="66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b="true" sz="37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IMPACT-AI-THON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6939" y="2184178"/>
            <a:ext cx="4357764" cy="53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1"/>
              </a:lnSpc>
            </a:pPr>
            <a:r>
              <a:rPr lang="en-US" b="true" sz="305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Feasibility and Viability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11944" y="3155375"/>
            <a:ext cx="15747797" cy="78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7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•Technical Feasibility: "We have already built a [Prototype/MVP] that proves the core logic works."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31452" y="4074852"/>
            <a:ext cx="2804331" cy="78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7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•Market Viability: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91885" y="5041964"/>
            <a:ext cx="13304358" cy="125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2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•Market Size: [TAM/SAM/SOM numbers].</a:t>
            </a:r>
          </a:p>
          <a:p>
            <a:pPr algn="l">
              <a:lnSpc>
                <a:spcPts val="6997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•Revenue Model: How will you make money? (e.g., Subscription, Transaction fee).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64719" y="6478248"/>
            <a:ext cx="8832628" cy="78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7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•Scalability: How the project grows as more users join.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155697"/>
          </a:xfrm>
          <a:custGeom>
            <a:avLst/>
            <a:gdLst/>
            <a:ahLst/>
            <a:cxnLst/>
            <a:rect r="r" b="b" t="t" l="l"/>
            <a:pathLst>
              <a:path h="1155697" w="18414997">
                <a:moveTo>
                  <a:pt x="0" y="0"/>
                </a:moveTo>
                <a:lnTo>
                  <a:pt x="18414997" y="0"/>
                </a:lnTo>
                <a:lnTo>
                  <a:pt x="18414997" y="1155697"/>
                </a:lnTo>
                <a:lnTo>
                  <a:pt x="0" y="1155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85804" y="1171975"/>
            <a:ext cx="7621143" cy="7943040"/>
            <a:chOff x="0" y="0"/>
            <a:chExt cx="10161524" cy="105907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1524" cy="10590784"/>
            </a:xfrm>
            <a:custGeom>
              <a:avLst/>
              <a:gdLst/>
              <a:ahLst/>
              <a:cxnLst/>
              <a:rect r="r" b="b" t="t" l="l"/>
              <a:pathLst>
                <a:path h="10590784" w="10161524">
                  <a:moveTo>
                    <a:pt x="0" y="0"/>
                  </a:moveTo>
                  <a:lnTo>
                    <a:pt x="10161524" y="0"/>
                  </a:lnTo>
                  <a:lnTo>
                    <a:pt x="10161524" y="10590784"/>
                  </a:lnTo>
                  <a:lnTo>
                    <a:pt x="0" y="1059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22" t="0" r="-2722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03446" y="1108481"/>
            <a:ext cx="11767004" cy="8070047"/>
          </a:xfrm>
          <a:custGeom>
            <a:avLst/>
            <a:gdLst/>
            <a:ahLst/>
            <a:cxnLst/>
            <a:rect r="r" b="b" t="t" l="l"/>
            <a:pathLst>
              <a:path h="8070047" w="11767004">
                <a:moveTo>
                  <a:pt x="0" y="0"/>
                </a:moveTo>
                <a:lnTo>
                  <a:pt x="11767004" y="0"/>
                </a:lnTo>
                <a:lnTo>
                  <a:pt x="11767004" y="8070047"/>
                </a:lnTo>
                <a:lnTo>
                  <a:pt x="0" y="80700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26241" y="133988"/>
            <a:ext cx="5435527" cy="665483"/>
          </a:xfrm>
          <a:custGeom>
            <a:avLst/>
            <a:gdLst/>
            <a:ahLst/>
            <a:cxnLst/>
            <a:rect r="r" b="b" t="t" l="l"/>
            <a:pathLst>
              <a:path h="665483" w="5435527">
                <a:moveTo>
                  <a:pt x="0" y="0"/>
                </a:moveTo>
                <a:lnTo>
                  <a:pt x="5435527" y="0"/>
                </a:lnTo>
                <a:lnTo>
                  <a:pt x="5435527" y="665483"/>
                </a:lnTo>
                <a:lnTo>
                  <a:pt x="0" y="6654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335842" y="47377"/>
            <a:ext cx="923458" cy="933936"/>
            <a:chOff x="0" y="0"/>
            <a:chExt cx="1231278" cy="12452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1265" cy="1245235"/>
            </a:xfrm>
            <a:custGeom>
              <a:avLst/>
              <a:gdLst/>
              <a:ahLst/>
              <a:cxnLst/>
              <a:rect r="r" b="b" t="t" l="l"/>
              <a:pathLst>
                <a:path h="1245235" w="1231265">
                  <a:moveTo>
                    <a:pt x="0" y="0"/>
                  </a:moveTo>
                  <a:lnTo>
                    <a:pt x="1231265" y="0"/>
                  </a:lnTo>
                  <a:lnTo>
                    <a:pt x="1231265" y="1245235"/>
                  </a:lnTo>
                  <a:lnTo>
                    <a:pt x="0" y="1245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" b="-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40130" y="3132258"/>
            <a:ext cx="726396" cy="4462777"/>
          </a:xfrm>
          <a:custGeom>
            <a:avLst/>
            <a:gdLst/>
            <a:ahLst/>
            <a:cxnLst/>
            <a:rect r="r" b="b" t="t" l="l"/>
            <a:pathLst>
              <a:path h="4462777" w="726396">
                <a:moveTo>
                  <a:pt x="0" y="0"/>
                </a:moveTo>
                <a:lnTo>
                  <a:pt x="726396" y="0"/>
                </a:lnTo>
                <a:lnTo>
                  <a:pt x="726396" y="4462777"/>
                </a:lnTo>
                <a:lnTo>
                  <a:pt x="0" y="446277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63503" y="9879378"/>
            <a:ext cx="18414997" cy="471126"/>
          </a:xfrm>
          <a:custGeom>
            <a:avLst/>
            <a:gdLst/>
            <a:ahLst/>
            <a:cxnLst/>
            <a:rect r="r" b="b" t="t" l="l"/>
            <a:pathLst>
              <a:path h="471126" w="18414997">
                <a:moveTo>
                  <a:pt x="0" y="0"/>
                </a:moveTo>
                <a:lnTo>
                  <a:pt x="18414997" y="0"/>
                </a:lnTo>
                <a:lnTo>
                  <a:pt x="18414997" y="471125"/>
                </a:lnTo>
                <a:lnTo>
                  <a:pt x="0" y="4711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335842" y="47377"/>
            <a:ext cx="923458" cy="933936"/>
          </a:xfrm>
          <a:custGeom>
            <a:avLst/>
            <a:gdLst/>
            <a:ahLst/>
            <a:cxnLst/>
            <a:rect r="r" b="b" t="t" l="l"/>
            <a:pathLst>
              <a:path h="933936" w="923458">
                <a:moveTo>
                  <a:pt x="0" y="0"/>
                </a:moveTo>
                <a:lnTo>
                  <a:pt x="923458" y="0"/>
                </a:lnTo>
                <a:lnTo>
                  <a:pt x="923458" y="933936"/>
                </a:lnTo>
                <a:lnTo>
                  <a:pt x="0" y="93393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62463" y="0"/>
            <a:ext cx="987028" cy="981323"/>
            <a:chOff x="0" y="0"/>
            <a:chExt cx="1316038" cy="13084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5974" cy="1308481"/>
            </a:xfrm>
            <a:custGeom>
              <a:avLst/>
              <a:gdLst/>
              <a:ahLst/>
              <a:cxnLst/>
              <a:rect r="r" b="b" t="t" l="l"/>
              <a:pathLst>
                <a:path h="1308481" w="1315974">
                  <a:moveTo>
                    <a:pt x="0" y="0"/>
                  </a:moveTo>
                  <a:lnTo>
                    <a:pt x="1315974" y="0"/>
                  </a:lnTo>
                  <a:lnTo>
                    <a:pt x="1315974" y="1308481"/>
                  </a:lnTo>
                  <a:lnTo>
                    <a:pt x="0" y="1308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847" t="0" r="-888" b="-9297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62463" y="0"/>
            <a:ext cx="987028" cy="981323"/>
          </a:xfrm>
          <a:custGeom>
            <a:avLst/>
            <a:gdLst/>
            <a:ahLst/>
            <a:cxnLst/>
            <a:rect r="r" b="b" t="t" l="l"/>
            <a:pathLst>
              <a:path h="981323" w="987028">
                <a:moveTo>
                  <a:pt x="0" y="0"/>
                </a:moveTo>
                <a:lnTo>
                  <a:pt x="987028" y="0"/>
                </a:lnTo>
                <a:lnTo>
                  <a:pt x="987028" y="981323"/>
                </a:lnTo>
                <a:lnTo>
                  <a:pt x="0" y="98132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165724" y="129321"/>
            <a:ext cx="4033923" cy="66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b="true" sz="37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IMPACT-AI-THON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6939" y="2184178"/>
            <a:ext cx="1910524" cy="53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1"/>
              </a:lnSpc>
            </a:pPr>
            <a:r>
              <a:rPr lang="en-US" b="true" sz="305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Reference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56639" y="3028121"/>
            <a:ext cx="126902" cy="534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02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• • • • • • • •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155697"/>
          </a:xfrm>
          <a:custGeom>
            <a:avLst/>
            <a:gdLst/>
            <a:ahLst/>
            <a:cxnLst/>
            <a:rect r="r" b="b" t="t" l="l"/>
            <a:pathLst>
              <a:path h="1155697" w="18414997">
                <a:moveTo>
                  <a:pt x="0" y="0"/>
                </a:moveTo>
                <a:lnTo>
                  <a:pt x="18414997" y="0"/>
                </a:lnTo>
                <a:lnTo>
                  <a:pt x="18414997" y="1155697"/>
                </a:lnTo>
                <a:lnTo>
                  <a:pt x="0" y="11556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85804" y="1171975"/>
            <a:ext cx="7621143" cy="7943040"/>
            <a:chOff x="0" y="0"/>
            <a:chExt cx="10161524" cy="105907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61524" cy="10590784"/>
            </a:xfrm>
            <a:custGeom>
              <a:avLst/>
              <a:gdLst/>
              <a:ahLst/>
              <a:cxnLst/>
              <a:rect r="r" b="b" t="t" l="l"/>
              <a:pathLst>
                <a:path h="10590784" w="10161524">
                  <a:moveTo>
                    <a:pt x="0" y="0"/>
                  </a:moveTo>
                  <a:lnTo>
                    <a:pt x="10161524" y="0"/>
                  </a:lnTo>
                  <a:lnTo>
                    <a:pt x="10161524" y="10590784"/>
                  </a:lnTo>
                  <a:lnTo>
                    <a:pt x="0" y="10590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22" t="0" r="-2722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65197" y="1108481"/>
            <a:ext cx="16899617" cy="8070047"/>
          </a:xfrm>
          <a:custGeom>
            <a:avLst/>
            <a:gdLst/>
            <a:ahLst/>
            <a:cxnLst/>
            <a:rect r="r" b="b" t="t" l="l"/>
            <a:pathLst>
              <a:path h="8070047" w="16899617">
                <a:moveTo>
                  <a:pt x="0" y="0"/>
                </a:moveTo>
                <a:lnTo>
                  <a:pt x="16899617" y="0"/>
                </a:lnTo>
                <a:lnTo>
                  <a:pt x="16899617" y="8070047"/>
                </a:lnTo>
                <a:lnTo>
                  <a:pt x="0" y="80700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26241" y="133988"/>
            <a:ext cx="5435527" cy="665483"/>
          </a:xfrm>
          <a:custGeom>
            <a:avLst/>
            <a:gdLst/>
            <a:ahLst/>
            <a:cxnLst/>
            <a:rect r="r" b="b" t="t" l="l"/>
            <a:pathLst>
              <a:path h="665483" w="5435527">
                <a:moveTo>
                  <a:pt x="0" y="0"/>
                </a:moveTo>
                <a:lnTo>
                  <a:pt x="5435527" y="0"/>
                </a:lnTo>
                <a:lnTo>
                  <a:pt x="5435527" y="665483"/>
                </a:lnTo>
                <a:lnTo>
                  <a:pt x="0" y="6654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335842" y="47377"/>
            <a:ext cx="923458" cy="933936"/>
            <a:chOff x="0" y="0"/>
            <a:chExt cx="1231278" cy="12452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1265" cy="1245235"/>
            </a:xfrm>
            <a:custGeom>
              <a:avLst/>
              <a:gdLst/>
              <a:ahLst/>
              <a:cxnLst/>
              <a:rect r="r" b="b" t="t" l="l"/>
              <a:pathLst>
                <a:path h="1245235" w="1231265">
                  <a:moveTo>
                    <a:pt x="0" y="0"/>
                  </a:moveTo>
                  <a:lnTo>
                    <a:pt x="1231265" y="0"/>
                  </a:lnTo>
                  <a:lnTo>
                    <a:pt x="1231265" y="1245235"/>
                  </a:lnTo>
                  <a:lnTo>
                    <a:pt x="0" y="1245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" b="-1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63503" y="9879378"/>
            <a:ext cx="18414997" cy="471126"/>
          </a:xfrm>
          <a:custGeom>
            <a:avLst/>
            <a:gdLst/>
            <a:ahLst/>
            <a:cxnLst/>
            <a:rect r="r" b="b" t="t" l="l"/>
            <a:pathLst>
              <a:path h="471126" w="18414997">
                <a:moveTo>
                  <a:pt x="0" y="0"/>
                </a:moveTo>
                <a:lnTo>
                  <a:pt x="18414997" y="0"/>
                </a:lnTo>
                <a:lnTo>
                  <a:pt x="18414997" y="471125"/>
                </a:lnTo>
                <a:lnTo>
                  <a:pt x="0" y="471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35842" y="47377"/>
            <a:ext cx="923458" cy="933936"/>
          </a:xfrm>
          <a:custGeom>
            <a:avLst/>
            <a:gdLst/>
            <a:ahLst/>
            <a:cxnLst/>
            <a:rect r="r" b="b" t="t" l="l"/>
            <a:pathLst>
              <a:path h="933936" w="923458">
                <a:moveTo>
                  <a:pt x="0" y="0"/>
                </a:moveTo>
                <a:lnTo>
                  <a:pt x="923458" y="0"/>
                </a:lnTo>
                <a:lnTo>
                  <a:pt x="923458" y="933936"/>
                </a:lnTo>
                <a:lnTo>
                  <a:pt x="0" y="93393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62463" y="0"/>
            <a:ext cx="987028" cy="981323"/>
            <a:chOff x="0" y="0"/>
            <a:chExt cx="1316038" cy="13084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5974" cy="1308481"/>
            </a:xfrm>
            <a:custGeom>
              <a:avLst/>
              <a:gdLst/>
              <a:ahLst/>
              <a:cxnLst/>
              <a:rect r="r" b="b" t="t" l="l"/>
              <a:pathLst>
                <a:path h="1308481" w="1315974">
                  <a:moveTo>
                    <a:pt x="0" y="0"/>
                  </a:moveTo>
                  <a:lnTo>
                    <a:pt x="1315974" y="0"/>
                  </a:lnTo>
                  <a:lnTo>
                    <a:pt x="1315974" y="1308481"/>
                  </a:lnTo>
                  <a:lnTo>
                    <a:pt x="0" y="13084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847" t="0" r="-888" b="-9297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62463" y="0"/>
            <a:ext cx="987028" cy="981323"/>
          </a:xfrm>
          <a:custGeom>
            <a:avLst/>
            <a:gdLst/>
            <a:ahLst/>
            <a:cxnLst/>
            <a:rect r="r" b="b" t="t" l="l"/>
            <a:pathLst>
              <a:path h="981323" w="987028">
                <a:moveTo>
                  <a:pt x="0" y="0"/>
                </a:moveTo>
                <a:lnTo>
                  <a:pt x="987028" y="0"/>
                </a:lnTo>
                <a:lnTo>
                  <a:pt x="987028" y="981323"/>
                </a:lnTo>
                <a:lnTo>
                  <a:pt x="0" y="98132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165724" y="129321"/>
            <a:ext cx="4033923" cy="66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b="true" sz="37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IMPACT-AI-THON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6939" y="2184178"/>
            <a:ext cx="4031704" cy="53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1"/>
              </a:lnSpc>
            </a:pPr>
            <a:r>
              <a:rPr lang="en-US" b="true" sz="305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Member Details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91799" y="6182658"/>
            <a:ext cx="10583532" cy="49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•[Member Name 3]: [Role, e.g., Data Analyst] – Brief background.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20212" y="3364925"/>
            <a:ext cx="15951250" cy="572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2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•[Member Name 1]: [Role, e.g., Lead Developer] – Brief background (e.g., CS student, 2 years exp in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47651" y="3962181"/>
            <a:ext cx="986952" cy="57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2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16050" y="4541520"/>
            <a:ext cx="14626233" cy="78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7"/>
              </a:lnSpc>
            </a:pPr>
            <a:r>
              <a:rPr lang="en-US" sz="279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•[Member Name 2]: [Role, e.g., Product Manager] – Brief background (e.g., UI/UX specialist).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DAHAYBFYhDA</dc:identifier>
  <dcterms:modified xsi:type="dcterms:W3CDTF">2011-08-01T06:04:30Z</dcterms:modified>
  <cp:revision>1</cp:revision>
  <dc:title>Project Title- Track Name- Problem Statement- Team Name-</dc:title>
</cp:coreProperties>
</file>